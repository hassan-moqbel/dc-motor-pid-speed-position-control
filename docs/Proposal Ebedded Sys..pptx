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Calibri" panose="020F0502020204030204" pitchFamily="34" charset="0"/>
      <p:regular r:id="rId4"/>
      <p:bold r:id="rId5"/>
    </p:embeddedFont>
    <p:embeddedFont>
      <p:font typeface="Noto Sans Arabic Condensed" panose="020B0604020202020204"/>
      <p:regular r:id="rId6"/>
    </p:embeddedFont>
    <p:embeddedFont>
      <p:font typeface="Noto Sans Arabic Condensed Light" panose="020B0604020202020204"/>
      <p:regular r:id="rId7"/>
    </p:embeddedFont>
    <p:embeddedFont>
      <p:font typeface="Tajawal" panose="020B0604020202020204" charset="-78"/>
      <p:regular r:id="rId8"/>
    </p:embeddedFont>
    <p:embeddedFont>
      <p:font typeface="Tajawal Medium" panose="020B0604020202020204" charset="-78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2578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454" y="-139700"/>
            <a:ext cx="4647904" cy="1750925"/>
            <a:chOff x="0" y="0"/>
            <a:chExt cx="4295599" cy="1618208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4295599" cy="1618208"/>
            </a:xfrm>
            <a:custGeom>
              <a:avLst/>
              <a:gdLst/>
              <a:ahLst/>
              <a:cxnLst/>
              <a:rect l="l" t="t" r="r" b="b"/>
              <a:pathLst>
                <a:path w="4295599" h="1618208">
                  <a:moveTo>
                    <a:pt x="4295599" y="0"/>
                  </a:moveTo>
                  <a:lnTo>
                    <a:pt x="0" y="0"/>
                  </a:lnTo>
                  <a:lnTo>
                    <a:pt x="0" y="1618208"/>
                  </a:lnTo>
                  <a:lnTo>
                    <a:pt x="4295599" y="1618208"/>
                  </a:lnTo>
                  <a:close/>
                </a:path>
              </a:pathLst>
            </a:custGeom>
            <a:solidFill>
              <a:srgbClr val="414562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412750" y="455611"/>
            <a:ext cx="4203700" cy="623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23"/>
              </a:lnSpc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DC Motor Speed Control System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ea typeface="Noto Sans Arabic Condensed"/>
              <a:cs typeface="Times New Roman" panose="02020603050405020304" pitchFamily="18" charset="0"/>
              <a:sym typeface="Noto Sans Arabic Condense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76014" y="2908300"/>
            <a:ext cx="5664436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656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This project aims to develop a system to control the speed of a DC motor using PID algorithm to enhance precision and responsiveness. A PIC16 or PIC18 microcontroller will be used, with programming in C.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6014" y="1648387"/>
            <a:ext cx="2311636" cy="290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44" dirty="0">
                <a:solidFill>
                  <a:schemeClr val="tx2">
                    <a:lumMod val="60000"/>
                    <a:lumOff val="40000"/>
                  </a:schemeClr>
                </a:solidFill>
                <a:latin typeface="Tajawal"/>
                <a:ea typeface="Tajawal"/>
                <a:cs typeface="Tajawal"/>
                <a:sym typeface="Tajawal"/>
              </a:rPr>
              <a:t>PROJECT PROPOSAL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83200" y="513497"/>
            <a:ext cx="1847850" cy="91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5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Done by: </a:t>
            </a:r>
          </a:p>
          <a:p>
            <a:pPr algn="ctr">
              <a:lnSpc>
                <a:spcPts val="1445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Musa AL-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slamani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 202174202</a:t>
            </a:r>
          </a:p>
          <a:p>
            <a:pPr algn="ctr">
              <a:lnSpc>
                <a:spcPts val="1445"/>
              </a:lnSpc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Hassan 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Moqbel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 Medium"/>
                <a:cs typeface="Times New Roman" panose="02020603050405020304" pitchFamily="18" charset="0"/>
                <a:sym typeface="Tajawal Medium"/>
              </a:rPr>
              <a:t>   202274198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-9648" y="3975100"/>
            <a:ext cx="3204962" cy="480509"/>
            <a:chOff x="0" y="0"/>
            <a:chExt cx="4943702" cy="824859"/>
          </a:xfrm>
        </p:grpSpPr>
        <p:sp>
          <p:nvSpPr>
            <p:cNvPr id="9" name="Freeform 9"/>
            <p:cNvSpPr/>
            <p:nvPr/>
          </p:nvSpPr>
          <p:spPr>
            <a:xfrm flipH="1">
              <a:off x="0" y="0"/>
              <a:ext cx="4943702" cy="824859"/>
            </a:xfrm>
            <a:custGeom>
              <a:avLst/>
              <a:gdLst/>
              <a:ahLst/>
              <a:cxnLst/>
              <a:rect l="l" t="t" r="r" b="b"/>
              <a:pathLst>
                <a:path w="4943702" h="824859">
                  <a:moveTo>
                    <a:pt x="4943702" y="0"/>
                  </a:moveTo>
                  <a:lnTo>
                    <a:pt x="0" y="0"/>
                  </a:lnTo>
                  <a:lnTo>
                    <a:pt x="0" y="824859"/>
                  </a:lnTo>
                  <a:lnTo>
                    <a:pt x="4943702" y="824859"/>
                  </a:lnTo>
                  <a:close/>
                </a:path>
              </a:pathLst>
            </a:custGeom>
            <a:solidFill>
              <a:srgbClr val="95B0CE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648" y="5963354"/>
            <a:ext cx="3214610" cy="482577"/>
            <a:chOff x="0" y="0"/>
            <a:chExt cx="4882239" cy="671806"/>
          </a:xfrm>
        </p:grpSpPr>
        <p:sp>
          <p:nvSpPr>
            <p:cNvPr id="12" name="Freeform 12"/>
            <p:cNvSpPr/>
            <p:nvPr/>
          </p:nvSpPr>
          <p:spPr>
            <a:xfrm flipH="1">
              <a:off x="0" y="0"/>
              <a:ext cx="4882239" cy="671806"/>
            </a:xfrm>
            <a:custGeom>
              <a:avLst/>
              <a:gdLst/>
              <a:ahLst/>
              <a:cxnLst/>
              <a:rect l="l" t="t" r="r" b="b"/>
              <a:pathLst>
                <a:path w="4882239" h="671806">
                  <a:moveTo>
                    <a:pt x="4882239" y="0"/>
                  </a:moveTo>
                  <a:lnTo>
                    <a:pt x="0" y="0"/>
                  </a:lnTo>
                  <a:lnTo>
                    <a:pt x="0" y="671806"/>
                  </a:lnTo>
                  <a:lnTo>
                    <a:pt x="4882239" y="671806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26725" y="5956300"/>
            <a:ext cx="2889525" cy="727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44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algn="ctr">
              <a:lnSpc>
                <a:spcPts val="3044"/>
              </a:lnSpc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0" y="8403822"/>
            <a:ext cx="3195314" cy="482576"/>
            <a:chOff x="0" y="0"/>
            <a:chExt cx="5098056" cy="555895"/>
          </a:xfrm>
        </p:grpSpPr>
        <p:sp>
          <p:nvSpPr>
            <p:cNvPr id="15" name="Freeform 15"/>
            <p:cNvSpPr/>
            <p:nvPr/>
          </p:nvSpPr>
          <p:spPr>
            <a:xfrm flipH="1">
              <a:off x="0" y="0"/>
              <a:ext cx="5098056" cy="555895"/>
            </a:xfrm>
            <a:custGeom>
              <a:avLst/>
              <a:gdLst/>
              <a:ahLst/>
              <a:cxnLst/>
              <a:rect l="l" t="t" r="r" b="b"/>
              <a:pathLst>
                <a:path w="5098056" h="555895">
                  <a:moveTo>
                    <a:pt x="5098056" y="0"/>
                  </a:moveTo>
                  <a:lnTo>
                    <a:pt x="0" y="0"/>
                  </a:lnTo>
                  <a:lnTo>
                    <a:pt x="0" y="555895"/>
                  </a:lnTo>
                  <a:lnTo>
                    <a:pt x="5098056" y="555895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93300" y="8481132"/>
            <a:ext cx="3151550" cy="29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0" y="2372313"/>
            <a:ext cx="3195314" cy="475404"/>
            <a:chOff x="0" y="0"/>
            <a:chExt cx="4511424" cy="726754"/>
          </a:xfrm>
        </p:grpSpPr>
        <p:sp>
          <p:nvSpPr>
            <p:cNvPr id="18" name="Freeform 18"/>
            <p:cNvSpPr/>
            <p:nvPr/>
          </p:nvSpPr>
          <p:spPr>
            <a:xfrm flipH="1">
              <a:off x="0" y="0"/>
              <a:ext cx="4511424" cy="726754"/>
            </a:xfrm>
            <a:custGeom>
              <a:avLst/>
              <a:gdLst/>
              <a:ahLst/>
              <a:cxnLst/>
              <a:rect l="l" t="t" r="r" b="b"/>
              <a:pathLst>
                <a:path w="4511425" h="726754">
                  <a:moveTo>
                    <a:pt x="4511425" y="0"/>
                  </a:moveTo>
                  <a:lnTo>
                    <a:pt x="0" y="0"/>
                  </a:lnTo>
                  <a:lnTo>
                    <a:pt x="0" y="726754"/>
                  </a:lnTo>
                  <a:lnTo>
                    <a:pt x="4511425" y="726754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305788" y="2419531"/>
            <a:ext cx="2791157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977"/>
              </a:lnSpc>
            </a:pPr>
            <a:r>
              <a:rPr lang="en-US" sz="2126" dirty="0">
                <a:solidFill>
                  <a:srgbClr val="FFFFFF"/>
                </a:solidFill>
                <a:latin typeface="Noto Sans Arabic Condensed"/>
                <a:ea typeface="Noto Sans Arabic Condensed"/>
                <a:cs typeface="Noto Sans Arabic Condensed"/>
                <a:sym typeface="Noto Sans Arabic Condensed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6014" y="4508500"/>
            <a:ext cx="5664436" cy="13080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Design and implement a system capable of accurately controlling DC motor speed.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Use PID algorithm for improved stability and precision.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Apply PWM techniques to adjust speed.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Provide a UART interface for displaying settings and data.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Add a Wi-Fi interface for remote control.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6014" y="6489700"/>
            <a:ext cx="5816836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Microcontroller: PIC16 or PIC18.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DC Motor: For speed control testing.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Speed Sensor: - Rotary Encoder: To read speed.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Motor Driver Circuit:  - H-Bridge: For controlling motor direction and speed.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UART Interface: For computer communication.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Wi-Fi Interface: Such as ESP8266 or ESP32.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Power Supply: To power the system.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6014" y="8928100"/>
            <a:ext cx="600075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PID Controller: For precise speed control.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PWM: For accurate speed adjustment.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Interrupts and Timers: To read speed and update control periodically.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UART Interface: To display and monitor data.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Wi-Fi Connect Interface: For remote motor control.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C254AB-3AD9-4CB1-B664-81CB9D22472A}"/>
              </a:ext>
            </a:extLst>
          </p:cNvPr>
          <p:cNvSpPr/>
          <p:nvPr/>
        </p:nvSpPr>
        <p:spPr>
          <a:xfrm>
            <a:off x="600143" y="3982023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BCBF74-6D12-40D7-B398-EEAA7BA66ABC}"/>
              </a:ext>
            </a:extLst>
          </p:cNvPr>
          <p:cNvSpPr/>
          <p:nvPr/>
        </p:nvSpPr>
        <p:spPr>
          <a:xfrm>
            <a:off x="535046" y="2381823"/>
            <a:ext cx="2031325" cy="374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INTRODUCTION</a:t>
            </a:r>
            <a:endParaRPr lang="en-US" sz="1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450" y="1003300"/>
            <a:ext cx="5981700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Design the Circuit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Program the Microcontroller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Test the System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Documentation and Evaluation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469900"/>
            <a:ext cx="2985149" cy="461781"/>
            <a:chOff x="0" y="0"/>
            <a:chExt cx="4511424" cy="726754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4511424" cy="726754"/>
            </a:xfrm>
            <a:custGeom>
              <a:avLst/>
              <a:gdLst/>
              <a:ahLst/>
              <a:cxnLst/>
              <a:rect l="l" t="t" r="r" b="b"/>
              <a:pathLst>
                <a:path w="4511425" h="726754">
                  <a:moveTo>
                    <a:pt x="4511425" y="0"/>
                  </a:moveTo>
                  <a:lnTo>
                    <a:pt x="0" y="0"/>
                  </a:lnTo>
                  <a:lnTo>
                    <a:pt x="0" y="726754"/>
                  </a:lnTo>
                  <a:lnTo>
                    <a:pt x="4511425" y="726754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8307" y="551010"/>
            <a:ext cx="2475031" cy="299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  <a:endParaRPr lang="en-US" sz="1772" b="1" dirty="0">
              <a:solidFill>
                <a:schemeClr val="bg1"/>
              </a:solidFill>
              <a:latin typeface="Times New Roman" panose="02020603050405020304" pitchFamily="18" charset="0"/>
              <a:ea typeface="Noto Sans Arabic Condensed Light"/>
              <a:cs typeface="Times New Roman" panose="02020603050405020304" pitchFamily="18" charset="0"/>
              <a:sym typeface="Noto Sans Arabic Condensed Light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" y="2126153"/>
            <a:ext cx="2985147" cy="486510"/>
            <a:chOff x="0" y="0"/>
            <a:chExt cx="4511426" cy="645687"/>
          </a:xfrm>
        </p:grpSpPr>
        <p:sp>
          <p:nvSpPr>
            <p:cNvPr id="7" name="Freeform 7"/>
            <p:cNvSpPr/>
            <p:nvPr/>
          </p:nvSpPr>
          <p:spPr>
            <a:xfrm flipH="1">
              <a:off x="0" y="0"/>
              <a:ext cx="4511425" cy="645687"/>
            </a:xfrm>
            <a:custGeom>
              <a:avLst/>
              <a:gdLst/>
              <a:ahLst/>
              <a:cxnLst/>
              <a:rect l="l" t="t" r="r" b="b"/>
              <a:pathLst>
                <a:path w="4511425" h="645687">
                  <a:moveTo>
                    <a:pt x="4511425" y="0"/>
                  </a:moveTo>
                  <a:lnTo>
                    <a:pt x="0" y="0"/>
                  </a:lnTo>
                  <a:lnTo>
                    <a:pt x="0" y="645687"/>
                  </a:lnTo>
                  <a:lnTo>
                    <a:pt x="4511425" y="645687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8308" y="2232732"/>
            <a:ext cx="2866842" cy="294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Expectations</a:t>
            </a:r>
            <a:endParaRPr lang="en-US" sz="1772" b="1" dirty="0">
              <a:solidFill>
                <a:schemeClr val="bg1"/>
              </a:solidFill>
              <a:latin typeface="Times New Roman" panose="02020603050405020304" pitchFamily="18" charset="0"/>
              <a:ea typeface="Noto Sans Arabic Condensed Light"/>
              <a:cs typeface="Times New Roman" panose="02020603050405020304" pitchFamily="18" charset="0"/>
              <a:sym typeface="Noto Sans Arabic Condensed Ligh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25450" y="2679700"/>
            <a:ext cx="601980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6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expected to improve the precision of motor speed control, making it suitable for industrial and educational applications, with remote control capability via Wi-Fi.</a:t>
            </a:r>
          </a:p>
          <a:p>
            <a:pPr>
              <a:lnSpc>
                <a:spcPts val="1656"/>
              </a:lnSpc>
            </a:pPr>
            <a:endParaRPr lang="en-US" sz="1600" dirty="0">
              <a:solidFill>
                <a:srgbClr val="000000"/>
              </a:solidFill>
              <a:latin typeface="Times New Roman" panose="02020603050405020304" pitchFamily="18" charset="0"/>
              <a:ea typeface="Tajawal"/>
              <a:cs typeface="Times New Roman" panose="02020603050405020304" pitchFamily="18" charset="0"/>
              <a:sym typeface="Tajawal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0" y="3517900"/>
            <a:ext cx="2985149" cy="486510"/>
            <a:chOff x="0" y="0"/>
            <a:chExt cx="4511426" cy="645687"/>
          </a:xfrm>
        </p:grpSpPr>
        <p:sp>
          <p:nvSpPr>
            <p:cNvPr id="11" name="Freeform 11"/>
            <p:cNvSpPr/>
            <p:nvPr/>
          </p:nvSpPr>
          <p:spPr>
            <a:xfrm flipH="1">
              <a:off x="0" y="0"/>
              <a:ext cx="4511425" cy="645687"/>
            </a:xfrm>
            <a:custGeom>
              <a:avLst/>
              <a:gdLst/>
              <a:ahLst/>
              <a:cxnLst/>
              <a:rect l="l" t="t" r="r" b="b"/>
              <a:pathLst>
                <a:path w="4511425" h="645687">
                  <a:moveTo>
                    <a:pt x="4511425" y="0"/>
                  </a:moveTo>
                  <a:lnTo>
                    <a:pt x="0" y="0"/>
                  </a:lnTo>
                  <a:lnTo>
                    <a:pt x="0" y="645687"/>
                  </a:lnTo>
                  <a:lnTo>
                    <a:pt x="4511425" y="645687"/>
                  </a:lnTo>
                  <a:close/>
                </a:path>
              </a:pathLst>
            </a:custGeom>
            <a:solidFill>
              <a:srgbClr val="95B0CE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8308" y="3594100"/>
            <a:ext cx="2866842" cy="294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81"/>
              </a:lnSpc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5450" y="4051300"/>
            <a:ext cx="6090042" cy="1744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Practical Learning: Experience programming in C and control using PID.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Technical Expertise: Understand communication protocols like UART, I2C, and SPI.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Industrial Application: Skills in automation and control are in demand.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Challenge and Innovation: Opportunity to fine-tune and improve system performance.</a:t>
            </a:r>
          </a:p>
          <a:p>
            <a:pPr marL="285750" indent="-285750" algn="l">
              <a:lnSpc>
                <a:spcPts val="1656"/>
              </a:lnSpc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Tajawal"/>
                <a:cs typeface="Times New Roman" panose="02020603050405020304" pitchFamily="18" charset="0"/>
                <a:sym typeface="Tajawal"/>
              </a:rPr>
              <a:t>Scalability: Possibility to add features like remote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322</Words>
  <Application>Microsoft Office PowerPoint</Application>
  <PresentationFormat>Custom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Times New Roman</vt:lpstr>
      <vt:lpstr>Arial</vt:lpstr>
      <vt:lpstr>Noto Sans Arabic Condensed</vt:lpstr>
      <vt:lpstr>Calibri</vt:lpstr>
      <vt:lpstr>Noto Sans Arabic Condensed Light</vt:lpstr>
      <vt:lpstr>Tajawal Medium</vt:lpstr>
      <vt:lpstr>Wingdings</vt:lpstr>
      <vt:lpstr>Tajawal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مقترح عام أزرق مربعات</dc:title>
  <dc:creator>Lenovo</dc:creator>
  <cp:lastModifiedBy>Lenovo</cp:lastModifiedBy>
  <cp:revision>14</cp:revision>
  <dcterms:created xsi:type="dcterms:W3CDTF">2006-08-16T00:00:00Z</dcterms:created>
  <dcterms:modified xsi:type="dcterms:W3CDTF">2024-09-20T22:18:24Z</dcterms:modified>
  <dc:identifier>DAGRU4sYnzA</dc:identifier>
</cp:coreProperties>
</file>